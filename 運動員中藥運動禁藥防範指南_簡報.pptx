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2011680"/>
            <a:ext cx="73152" cy="2926080"/>
          </a:xfrm>
          <a:prstGeom prst="rect">
            <a:avLst/>
          </a:prstGeom>
          <a:solidFill>
            <a:srgbClr val="005F73"/>
          </a:solidFill>
          <a:ln>
            <a:solidFill>
              <a:srgbClr val="005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920240"/>
            <a:ext cx="9601200" cy="310896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>
              <a:spcAft>
                <a:spcPts val="1200"/>
              </a:spcAft>
            </a:pPr>
            <a:r>
              <a:rPr sz="4400" b="1">
                <a:solidFill>
                  <a:srgbClr val="1A202C"/>
                </a:solidFill>
                <a:latin typeface="Microsoft JhengHei"/>
              </a:rPr>
              <a:t>運動禁藥與中草藥使用指南</a:t>
            </a:r>
          </a:p>
          <a:p>
            <a:pPr>
              <a:spcAft>
                <a:spcPts val="2400"/>
              </a:spcAft>
            </a:pPr>
            <a:r>
              <a:rPr sz="2000">
                <a:solidFill>
                  <a:srgbClr val="4A5568"/>
                </a:solidFill>
                <a:latin typeface="Microsoft JhengHei"/>
              </a:rPr>
              <a:t>運動員的黃金防禦與避雷指引
傳統中藥材與科學中藥的 WADA 禁藥風險防範對策</a:t>
            </a:r>
          </a:p>
          <a:p>
            <a:r>
              <a:rPr sz="1300" b="1">
                <a:solidFill>
                  <a:srgbClr val="005F73"/>
                </a:solidFill>
                <a:latin typeface="Microsoft JhengHei"/>
              </a:rPr>
              <a:t>2026 最新反運動禁藥規範對照指引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0362895" cy="36576"/>
          </a:xfrm>
          <a:prstGeom prst="rect">
            <a:avLst/>
          </a:prstGeom>
          <a:solidFill>
            <a:srgbClr val="005F73"/>
          </a:solidFill>
          <a:ln>
            <a:solidFill>
              <a:srgbClr val="005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 tIns="91440" bIns="0" lIns="0" rIns="0">
            <a:spAutoFit/>
          </a:bodyPr>
          <a:lstStyle/>
          <a:p>
            <a:r>
              <a:rPr sz="2400" b="1">
                <a:solidFill>
                  <a:srgbClr val="005F73"/>
                </a:solidFill>
                <a:latin typeface="Microsoft JhengHei UI"/>
              </a:rPr>
              <a:t>01  </a:t>
            </a:r>
            <a:r>
              <a:rPr sz="2400" b="1">
                <a:solidFill>
                  <a:srgbClr val="1A202C"/>
                </a:solidFill>
                <a:latin typeface="Microsoft JhengHei"/>
              </a:rPr>
              <a:t>中草藥特性與運動禁藥之「嚴格責任」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846320" cy="429768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480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005F73"/>
                </a:solidFill>
                <a:latin typeface="Microsoft JhengHei"/>
              </a:rPr>
              <a:t>中草藥與科學中藥的特性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A202C"/>
                </a:solidFill>
                <a:latin typeface="Microsoft JhengHei"/>
              </a:rPr>
              <a:t>• 多成分複雜性：</a:t>
            </a:r>
            <a:r>
              <a:rPr sz="1400">
                <a:solidFill>
                  <a:srgbClr val="4A5568"/>
                </a:solidFill>
                <a:latin typeface="Microsoft JhengHei"/>
              </a:rPr>
              <a:t>一味中藥含數百種化合物，複方成分相互交織，具高度不確定性。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A202C"/>
                </a:solidFill>
                <a:latin typeface="Microsoft JhengHei"/>
              </a:rPr>
              <a:t>• 濃縮放大效應：</a:t>
            </a:r>
            <a:r>
              <a:rPr sz="1400">
                <a:solidFill>
                  <a:srgbClr val="4A5568"/>
                </a:solidFill>
                <a:latin typeface="Microsoft JhengHei"/>
              </a:rPr>
              <a:t>科學中藥在提取與濃縮過程中，會將微量活性成分放大數倍至數十倍，大幅增加尿檢陽性風險。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A202C"/>
                </a:solidFill>
                <a:latin typeface="Microsoft JhengHei"/>
              </a:rPr>
              <a:t>• 品質控制難點：</a:t>
            </a:r>
            <a:r>
              <a:rPr sz="1400">
                <a:solidFill>
                  <a:srgbClr val="4A5568"/>
                </a:solidFill>
                <a:latin typeface="Microsoft JhengHei"/>
              </a:rPr>
              <a:t>受藥材產地、採收季節、炮製方法影響，同一複方不同批次的禁用成分含量可能存在顯著波動。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4846320" cy="4297680"/>
          </a:xfrm>
          <a:prstGeom prst="roundRect">
            <a:avLst/>
          </a:prstGeom>
          <a:solidFill>
            <a:srgbClr val="FED7D7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828800"/>
            <a:ext cx="4480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63946"/>
                </a:solidFill>
                <a:latin typeface="Microsoft JhengHei"/>
              </a:rPr>
              <a:t>嚴格責任原則 (Strict Liability)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A202C"/>
                </a:solidFill>
                <a:latin typeface="Microsoft JhengHei"/>
              </a:rPr>
              <a:t>• 客觀事實判定：</a:t>
            </a:r>
            <a:r>
              <a:rPr sz="1400">
                <a:solidFill>
                  <a:srgbClr val="1A202C"/>
                </a:solidFill>
                <a:latin typeface="Microsoft JhengHei"/>
              </a:rPr>
              <a:t>只要樣本（尿液/血液）中檢出禁用物質，即構成運動禁藥違規（ADRV），不論是否故意。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A202C"/>
                </a:solidFill>
                <a:latin typeface="Microsoft JhengHei"/>
              </a:rPr>
              <a:t>• 疏忽不免責：</a:t>
            </a:r>
            <a:r>
              <a:rPr sz="1400">
                <a:solidFill>
                  <a:srgbClr val="1A202C"/>
                </a:solidFill>
                <a:latin typeface="Microsoft JhengHei"/>
              </a:rPr>
              <a:t>在聽證會上，以「不知道中藥裡含有禁藥」或「中醫師說很安全」均不能作為完全免責的理由。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A202C"/>
                </a:solidFill>
                <a:latin typeface="Microsoft JhengHei"/>
              </a:rPr>
              <a:t>• 終極個人責任：</a:t>
            </a:r>
            <a:r>
              <a:rPr sz="1400">
                <a:solidFill>
                  <a:srgbClr val="1A202C"/>
                </a:solidFill>
                <a:latin typeface="Microsoft JhengHei"/>
              </a:rPr>
              <a:t>運動員必須對所有進入自己體內的物質負起終極責任，這也是反運動禁藥管制的根本法理。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0362895" cy="36576"/>
          </a:xfrm>
          <a:prstGeom prst="rect">
            <a:avLst/>
          </a:prstGeom>
          <a:solidFill>
            <a:srgbClr val="005F73"/>
          </a:solidFill>
          <a:ln>
            <a:solidFill>
              <a:srgbClr val="005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 tIns="91440" bIns="0" lIns="0" rIns="0">
            <a:spAutoFit/>
          </a:bodyPr>
          <a:lstStyle/>
          <a:p>
            <a:r>
              <a:rPr sz="2400" b="1">
                <a:solidFill>
                  <a:srgbClr val="005F73"/>
                </a:solidFill>
                <a:latin typeface="Microsoft JhengHei UI"/>
              </a:rPr>
              <a:t>02  </a:t>
            </a:r>
            <a:r>
              <a:rPr sz="2400" b="1">
                <a:solidFill>
                  <a:srgbClr val="1A202C"/>
                </a:solidFill>
                <a:latin typeface="Microsoft JhengHei"/>
              </a:rPr>
              <a:t>運動員尋求中草藥調理之三大臨床主因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230575" cy="429768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295625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005F73"/>
                </a:solidFill>
                <a:latin typeface="Microsoft JhengHei UI"/>
              </a:rPr>
              <a:t>01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A202C"/>
                </a:solidFill>
                <a:latin typeface="Microsoft JhengHei"/>
              </a:rPr>
              <a:t>運動後疲勞快速恢復</a:t>
            </a:r>
          </a:p>
          <a:p>
            <a:pPr>
              <a:spcAft>
                <a:spcPts val="1400"/>
              </a:spcAft>
            </a:pPr>
            <a:r>
              <a:rPr sz="1300" b="1">
                <a:solidFill>
                  <a:srgbClr val="005F73"/>
                </a:solidFill>
                <a:latin typeface="Microsoft JhengHei"/>
              </a:rPr>
              <a:t>氣血雙補、加速乳酸代謝</a:t>
            </a:r>
          </a:p>
          <a:p>
            <a:r>
              <a:rPr sz="1400">
                <a:solidFill>
                  <a:srgbClr val="4A5568"/>
                </a:solidFill>
                <a:latin typeface="Microsoft JhengHei"/>
              </a:rPr>
              <a:t>高強度訓練會導致運動性「氣血兩虛」或「氣滯血瘀」。選手多用當歸、黃芪、人參、丹參等中藥補益藥，以促進微循環並縮短疲勞恢復期。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645920"/>
            <a:ext cx="3230575" cy="429768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95625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005F73"/>
                </a:solidFill>
                <a:latin typeface="Microsoft JhengHei UI"/>
              </a:rPr>
              <a:t>02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A202C"/>
                </a:solidFill>
                <a:latin typeface="Microsoft JhengHei"/>
              </a:rPr>
              <a:t>肌肉與關節損傷調理</a:t>
            </a:r>
          </a:p>
          <a:p>
            <a:pPr>
              <a:spcAft>
                <a:spcPts val="1400"/>
              </a:spcAft>
            </a:pPr>
            <a:r>
              <a:rPr sz="1300" b="1">
                <a:solidFill>
                  <a:srgbClr val="005F73"/>
                </a:solidFill>
                <a:latin typeface="Microsoft JhengHei"/>
              </a:rPr>
              <a:t>活血散瘀、消腫止痛</a:t>
            </a:r>
          </a:p>
          <a:p>
            <a:r>
              <a:rPr sz="1400">
                <a:solidFill>
                  <a:srgbClr val="4A5568"/>
                </a:solidFill>
                <a:latin typeface="Microsoft JhengHei"/>
              </a:rPr>
              <a:t>面對跌打損傷、韌帶拉傷或慢性關節痠痛，選手常用口服複方（如獨活寄生湯、疏經活血湯）或外敷麝香膏以達到祛風通絡、消炎退腫效果。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30575" cy="429768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828800"/>
            <a:ext cx="295625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800" b="1">
                <a:solidFill>
                  <a:srgbClr val="005F73"/>
                </a:solidFill>
                <a:latin typeface="Microsoft JhengHei UI"/>
              </a:rPr>
              <a:t>03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A202C"/>
                </a:solidFill>
                <a:latin typeface="Microsoft JhengHei"/>
              </a:rPr>
              <a:t>免疫力調節與日常體質</a:t>
            </a:r>
          </a:p>
          <a:p>
            <a:pPr>
              <a:spcAft>
                <a:spcPts val="1400"/>
              </a:spcAft>
            </a:pPr>
            <a:r>
              <a:rPr sz="1300" b="1">
                <a:solidFill>
                  <a:srgbClr val="005F73"/>
                </a:solidFill>
                <a:latin typeface="Microsoft JhengHei"/>
              </a:rPr>
              <a:t>益氣固表、適應性調理</a:t>
            </a:r>
          </a:p>
          <a:p>
            <a:r>
              <a:rPr sz="1400">
                <a:solidFill>
                  <a:srgbClr val="4A5568"/>
                </a:solidFill>
                <a:latin typeface="Microsoft JhengHei"/>
              </a:rPr>
              <a:t>在高強度備賽期或出國參賽面臨氣候突變、時差時，運動員易因壓力導致免疫力下降。多使用玉屏風散等調理脾胃，預防感冒及維持身體機能穩定。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0362895" cy="36576"/>
          </a:xfrm>
          <a:prstGeom prst="rect">
            <a:avLst/>
          </a:prstGeom>
          <a:solidFill>
            <a:srgbClr val="005F73"/>
          </a:solidFill>
          <a:ln>
            <a:solidFill>
              <a:srgbClr val="005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 tIns="91440" bIns="0" lIns="0" rIns="0">
            <a:spAutoFit/>
          </a:bodyPr>
          <a:lstStyle/>
          <a:p>
            <a:r>
              <a:rPr sz="2400" b="1">
                <a:solidFill>
                  <a:srgbClr val="005F73"/>
                </a:solidFill>
                <a:latin typeface="Microsoft JhengHei UI"/>
              </a:rPr>
              <a:t>03  </a:t>
            </a:r>
            <a:r>
              <a:rPr sz="2400" b="1">
                <a:solidFill>
                  <a:srgbClr val="1A202C"/>
                </a:solidFill>
                <a:latin typeface="Microsoft JhengHei"/>
              </a:rPr>
              <a:t>確定禁用中藥專題：去甲烏藥鹼 (Higenamine) 風險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400" b="1">
                <a:solidFill>
                  <a:srgbClr val="E63946"/>
                </a:solidFill>
                <a:latin typeface="Microsoft JhengHei UI"/>
              </a:rPr>
              <a:t>10 ng/mL</a:t>
            </a:r>
          </a:p>
          <a:p>
            <a:r>
              <a:rPr sz="1600" b="1">
                <a:solidFill>
                  <a:srgbClr val="1A202C"/>
                </a:solidFill>
                <a:latin typeface="Microsoft JhengHei"/>
              </a:rPr>
              <a:t>WADA 去甲烏藥鹼尿液判定陽性之閾值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383280"/>
            <a:ext cx="4572000" cy="2560320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520440"/>
            <a:ext cx="4297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05F73"/>
                </a:solidFill>
                <a:latin typeface="Microsoft JhengHei"/>
              </a:rPr>
              <a:t>💡 數據實體化對比 (Real-world Analogy)</a:t>
            </a:r>
          </a:p>
          <a:p>
            <a:r>
              <a:rPr sz="1400">
                <a:solidFill>
                  <a:srgbClr val="1A202C"/>
                </a:solidFill>
                <a:latin typeface="Microsoft JhengHei"/>
              </a:rPr>
              <a:t>去甲烏藥鹼的檢測限制極為嚴格。10 ng/mL 相當於在一座容量為 </a:t>
            </a:r>
            <a:r>
              <a:rPr sz="1400" b="1">
                <a:solidFill>
                  <a:srgbClr val="005F73"/>
                </a:solidFill>
                <a:latin typeface="Microsoft JhengHei"/>
              </a:rPr>
              <a:t>250 萬公升的標準奧運游泳池</a:t>
            </a:r>
            <a:r>
              <a:rPr sz="1400">
                <a:solidFill>
                  <a:srgbClr val="1A202C"/>
                </a:solidFill>
                <a:latin typeface="Microsoft JhengHei"/>
              </a:rPr>
              <a:t>中，只滴入 </a:t>
            </a:r>
            <a:r>
              <a:rPr sz="1400" b="1">
                <a:solidFill>
                  <a:srgbClr val="E63946"/>
                </a:solidFill>
                <a:latin typeface="Microsoft JhengHei"/>
              </a:rPr>
              <a:t>0.025 毫升（約半滴）</a:t>
            </a:r>
            <a:r>
              <a:rPr sz="1400">
                <a:solidFill>
                  <a:srgbClr val="1A202C"/>
                </a:solidFill>
                <a:latin typeface="Microsoft JhengHei"/>
              </a:rPr>
              <a:t>的純化成分。運動員只要喝下一杯天然「蓮子心茶」，幾小時內就會引發尿檢陽性。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64592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E63946"/>
                </a:solidFill>
                <a:latin typeface="Microsoft JhengHei"/>
              </a:rPr>
              <a:t>❌ 含有去甲烏藥鹼的高風險來源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202C"/>
                </a:solidFill>
                <a:latin typeface="Microsoft JhengHei"/>
              </a:rPr>
              <a:t>• 蓮子心：</a:t>
            </a:r>
            <a:r>
              <a:rPr sz="1400">
                <a:solidFill>
                  <a:srgbClr val="4A5568"/>
                </a:solidFill>
                <a:latin typeface="Microsoft JhengHei"/>
              </a:rPr>
              <a:t>含量居冠。常用於降火、助眠，運動員賽前應絕對禁止飲用。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202C"/>
                </a:solidFill>
                <a:latin typeface="Microsoft JhengHei"/>
              </a:rPr>
              <a:t>• 附子、細辛、吳茱萸：</a:t>
            </a:r>
            <a:r>
              <a:rPr sz="1400">
                <a:solidFill>
                  <a:srgbClr val="4A5568"/>
                </a:solidFill>
                <a:latin typeface="Microsoft JhengHei"/>
              </a:rPr>
              <a:t>常見中藥材，廣泛存在於溫陽祛寒方劑（如四逆湯）中。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202C"/>
                </a:solidFill>
                <a:latin typeface="Microsoft JhengHei"/>
              </a:rPr>
              <a:t>• 日常水果風險：</a:t>
            </a:r>
            <a:r>
              <a:rPr sz="1400">
                <a:solidFill>
                  <a:srgbClr val="4A5568"/>
                </a:solidFill>
                <a:latin typeface="Microsoft JhengHei"/>
              </a:rPr>
              <a:t>釋迦（番荔枝科）含有天然去甲烏藥鹼，臨賽期應避免大量食用。</a:t>
            </a:r>
          </a:p>
          <a:p>
            <a:pPr>
              <a:spcBef>
                <a:spcPts val="1400"/>
              </a:spcBef>
              <a:spcAft>
                <a:spcPts val="1000"/>
              </a:spcAft>
            </a:pPr>
            <a:r>
              <a:rPr sz="1800" b="1">
                <a:solidFill>
                  <a:srgbClr val="005F73"/>
                </a:solidFill>
                <a:latin typeface="Microsoft JhengHei"/>
              </a:rPr>
              <a:t>⚠️ 隱藏前驅物風險 ─ 烏藥鹼 (Coclaurine)</a:t>
            </a:r>
          </a:p>
          <a:p>
            <a:r>
              <a:rPr sz="1400">
                <a:solidFill>
                  <a:srgbClr val="4A5568"/>
                </a:solidFill>
                <a:latin typeface="Microsoft JhengHei"/>
              </a:rPr>
              <a:t>最新藥物動力學發現，Coclaurine 本身未被禁用，但口服後會在人體內脫甲基代謝轉化為 </a:t>
            </a:r>
            <a:r>
              <a:rPr sz="1400" b="1">
                <a:solidFill>
                  <a:srgbClr val="E63946"/>
                </a:solidFill>
                <a:latin typeface="Microsoft JhengHei"/>
              </a:rPr>
              <a:t>Higenamine</a:t>
            </a:r>
            <a:r>
              <a:rPr sz="1400">
                <a:solidFill>
                  <a:srgbClr val="4A5568"/>
                </a:solidFill>
                <a:latin typeface="Microsoft JhengHei"/>
              </a:rPr>
              <a:t>。常見中草藥如肉桂、大棗、黃柏等均富含此成分，使避雷難度大增。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0362895" cy="36576"/>
          </a:xfrm>
          <a:prstGeom prst="rect">
            <a:avLst/>
          </a:prstGeom>
          <a:solidFill>
            <a:srgbClr val="005F73"/>
          </a:solidFill>
          <a:ln>
            <a:solidFill>
              <a:srgbClr val="005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 tIns="91440" bIns="0" lIns="0" rIns="0">
            <a:spAutoFit/>
          </a:bodyPr>
          <a:lstStyle/>
          <a:p>
            <a:r>
              <a:rPr sz="2400" b="1">
                <a:solidFill>
                  <a:srgbClr val="005F73"/>
                </a:solidFill>
                <a:latin typeface="Microsoft JhengHei UI"/>
              </a:rPr>
              <a:t>04  </a:t>
            </a:r>
            <a:r>
              <a:rPr sz="2400" b="1">
                <a:solidFill>
                  <a:srgbClr val="1A202C"/>
                </a:solidFill>
                <a:latin typeface="Microsoft JhengHei"/>
              </a:rPr>
              <a:t>賽內興奮劑：麻黃素累積排除動力學與陽性風險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E63946"/>
                </a:solidFill>
                <a:latin typeface="Microsoft JhengHei UI"/>
              </a:rPr>
              <a:t>10 μg/mL
</a:t>
            </a:r>
            <a:r>
              <a:rPr sz="1400" b="1">
                <a:solidFill>
                  <a:srgbClr val="1A202C"/>
                </a:solidFill>
                <a:latin typeface="Microsoft JhengHei"/>
              </a:rPr>
              <a:t>WADA 麻黃鹼尿液檢測判定陽性閾值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4A5568"/>
                </a:solidFill>
                <a:latin typeface="Microsoft JhengHei"/>
              </a:rPr>
              <a:t>⚠️ 累積效應的「溫水煮青蛙」：
科學中藥（如葛根湯、小青龍湯）單次服用時，尿液濃度均在安全閾值內；然而若連續服用 </a:t>
            </a:r>
            <a:r>
              <a:rPr sz="1400" b="1">
                <a:solidFill>
                  <a:srgbClr val="E63946"/>
                </a:solidFill>
                <a:latin typeface="Microsoft JhengHei"/>
              </a:rPr>
              <a:t>3 天（一日三次）</a:t>
            </a:r>
            <a:r>
              <a:rPr sz="1400">
                <a:solidFill>
                  <a:srgbClr val="4A5568"/>
                </a:solidFill>
                <a:latin typeface="Microsoft JhengHei"/>
              </a:rPr>
              <a:t>，體內藥物累積將導致排泄濃度呈倍數飆升，觸發陽性判定。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0" y="1645920"/>
            <a:ext cx="36576" cy="4114800"/>
          </a:xfrm>
          <a:prstGeom prst="rect">
            <a:avLst/>
          </a:prstGeom>
          <a:solidFill>
            <a:srgbClr val="E63946"/>
          </a:solidFill>
          <a:ln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63946"/>
                </a:solidFill>
                <a:latin typeface="Microsoft JhengHei"/>
              </a:rPr>
              <a:t>WADA 陽性閾值 10.0 μg/mL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874519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202C"/>
                </a:solidFill>
                <a:latin typeface="Microsoft JhengHei"/>
              </a:defRPr>
            </a:pPr>
            <a:r>
              <a:t>葛根湯/小青龍湯 ─ 單次服用 (平均 3.9 μg/mL)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2194560"/>
            <a:ext cx="5486400" cy="365760"/>
          </a:xfrm>
          <a:prstGeom prst="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0" y="2194560"/>
            <a:ext cx="534924" cy="365760"/>
          </a:xfrm>
          <a:prstGeom prst="rect">
            <a:avLst/>
          </a:prstGeom>
          <a:solidFill>
            <a:srgbClr val="718096"/>
          </a:solidFill>
          <a:ln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29883" y="21488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18096"/>
                </a:solidFill>
                <a:latin typeface="Microsoft JhengHei UI"/>
              </a:defRPr>
            </a:pPr>
            <a:r>
              <a:t>3.9 μg/mL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154679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202C"/>
                </a:solidFill>
                <a:latin typeface="Microsoft JhengHei"/>
              </a:defRPr>
            </a:pPr>
            <a:r>
              <a:t>小青龍湯 ─ 連續服用 3 天 (13.73 μg/mL)  ⚠️ 超標 1.3 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3474720"/>
            <a:ext cx="5486400" cy="365760"/>
          </a:xfrm>
          <a:prstGeom prst="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03520" y="3474720"/>
            <a:ext cx="1883206" cy="365760"/>
          </a:xfrm>
          <a:prstGeom prst="rect">
            <a:avLst/>
          </a:prstGeom>
          <a:solidFill>
            <a:srgbClr val="E63946"/>
          </a:solidFill>
          <a:ln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78166" y="34290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63946"/>
                </a:solidFill>
                <a:latin typeface="Microsoft JhengHei UI"/>
              </a:defRPr>
            </a:pPr>
            <a:r>
              <a:t>13.73 μg/mL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4348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202C"/>
                </a:solidFill>
                <a:latin typeface="Microsoft JhengHei"/>
              </a:defRPr>
            </a:pPr>
            <a:r>
              <a:t>葛根湯 ─ 連續服用 3 天 (39.03 μg/mL)  🚨 超標近 4 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4754880"/>
            <a:ext cx="5486400" cy="365760"/>
          </a:xfrm>
          <a:prstGeom prst="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03520" y="4754880"/>
            <a:ext cx="5353354" cy="365760"/>
          </a:xfrm>
          <a:prstGeom prst="rect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48314" y="47091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B91C1C"/>
                </a:solidFill>
                <a:latin typeface="Microsoft JhengHei UI"/>
              </a:defRPr>
            </a:pPr>
            <a:r>
              <a:t>39.03 μg/mL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0362895" cy="36576"/>
          </a:xfrm>
          <a:prstGeom prst="rect">
            <a:avLst/>
          </a:prstGeom>
          <a:solidFill>
            <a:srgbClr val="005F73"/>
          </a:solidFill>
          <a:ln>
            <a:solidFill>
              <a:srgbClr val="005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 tIns="91440" bIns="0" lIns="0" rIns="0">
            <a:spAutoFit/>
          </a:bodyPr>
          <a:lstStyle/>
          <a:p>
            <a:r>
              <a:rPr sz="2400" b="1">
                <a:solidFill>
                  <a:srgbClr val="005F73"/>
                </a:solidFill>
                <a:latin typeface="Microsoft JhengHei UI"/>
              </a:rPr>
              <a:t>05  </a:t>
            </a:r>
            <a:r>
              <a:rPr sz="2400" b="1">
                <a:solidFill>
                  <a:srgbClr val="1A202C"/>
                </a:solidFill>
                <a:latin typeface="Microsoft JhengHei"/>
              </a:rPr>
              <a:t>其他禁用中草藥與 2026 運動禁藥監控計畫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846320" cy="429768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E63946"/>
                </a:solidFill>
                <a:latin typeface="Microsoft JhengHei"/>
              </a:rPr>
              <a:t>🚫 其他確定為禁用物質之藥材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Microsoft JhengHei"/>
              </a:rPr>
              <a:t>• 鹿麝香 (Moschus)：</a:t>
            </a:r>
            <a:r>
              <a:rPr sz="1300">
                <a:solidFill>
                  <a:srgbClr val="4A5568"/>
                </a:solidFill>
                <a:latin typeface="Microsoft JhengHei"/>
              </a:rPr>
              <a:t>類別 S1 同化性物質。口服或外用貼布均可能被皮膚吸收，導致雄性素藥檢超標。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Microsoft JhengHei"/>
              </a:rPr>
              <a:t>• 地膚子、防己：</a:t>
            </a:r>
            <a:r>
              <a:rPr sz="1300">
                <a:solidFill>
                  <a:srgbClr val="4A5568"/>
                </a:solidFill>
                <a:latin typeface="Microsoft JhengHei"/>
              </a:rPr>
              <a:t>類別 S5 利尿劑。具強效利尿排除水分功能，會被判定為企圖稀釋或遮蔽尿液中的其他禁藥成分。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Microsoft JhengHei"/>
              </a:rPr>
              <a:t>• 火麻仁 (Cannabis)：</a:t>
            </a:r>
            <a:r>
              <a:rPr sz="1300">
                <a:solidFill>
                  <a:srgbClr val="4A5568"/>
                </a:solidFill>
                <a:latin typeface="Microsoft JhengHei"/>
              </a:rPr>
              <a:t>類別 S8 大麻素。中藥常用於潤腸通便。收割加工易遭大麻葉污染，造成 THC 陽性。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Microsoft JhengHei"/>
              </a:rPr>
              <a:t>• 馬錢子：</a:t>
            </a:r>
            <a:r>
              <a:rPr sz="1300">
                <a:solidFill>
                  <a:srgbClr val="4A5568"/>
                </a:solidFill>
                <a:latin typeface="Microsoft JhengHei"/>
              </a:rPr>
              <a:t>類別 S6 興奮劑。含有番木鼈鹼（劇毒），能興奮脊髓反射，禁用於賽內。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4846320" cy="429768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82880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005F73"/>
                </a:solidFill>
                <a:latin typeface="Microsoft JhengHei"/>
              </a:rPr>
              <a:t>📈 2026 WADA 監控計畫重點物質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Microsoft JhengHei"/>
              </a:rPr>
              <a:t>• 咖啡因 (Caffeine)：</a:t>
            </a:r>
            <a:r>
              <a:rPr sz="1300">
                <a:solidFill>
                  <a:srgbClr val="4A5568"/>
                </a:solidFill>
                <a:latin typeface="Microsoft JhengHei"/>
              </a:rPr>
              <a:t>賽內監控。茶葉、咖啡與大量中藥提神包中常見。目前不禁用，但持續監測數據。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Microsoft JhengHei"/>
              </a:rPr>
              <a:t>• 尼古丁 (Nicotine)：</a:t>
            </a:r>
            <a:r>
              <a:rPr sz="1300">
                <a:solidFill>
                  <a:srgbClr val="4A5568"/>
                </a:solidFill>
                <a:latin typeface="Microsoft JhengHei"/>
              </a:rPr>
              <a:t>持續監管運動員使用菸草與草本吸入劑的頻率。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Microsoft JhengHei"/>
              </a:rPr>
              <a:t>• 辛弗林 (Synephrine)：</a:t>
            </a:r>
            <a:r>
              <a:rPr sz="1300">
                <a:solidFill>
                  <a:srgbClr val="4A5568"/>
                </a:solidFill>
                <a:latin typeface="Microsoft JhengHei"/>
              </a:rPr>
              <a:t>枳實、枳殼等理氣藥之核心活性成分，目前在賽內進行密切監控。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A202C"/>
                </a:solidFill>
                <a:latin typeface="Microsoft JhengHei"/>
              </a:rPr>
              <a:t>• Semaglutide 減重監控：</a:t>
            </a:r>
            <a:r>
              <a:rPr sz="1300">
                <a:solidFill>
                  <a:srgbClr val="4A5568"/>
                </a:solidFill>
                <a:latin typeface="Microsoft JhengHei"/>
              </a:rPr>
              <a:t>全時段監控。標榜速效瘦身的草本減肥丸，极易非法摻雜 Semaglutide 等 GLP-1 減重成分。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0362895" cy="36576"/>
          </a:xfrm>
          <a:prstGeom prst="rect">
            <a:avLst/>
          </a:prstGeom>
          <a:solidFill>
            <a:srgbClr val="005F73"/>
          </a:solidFill>
          <a:ln>
            <a:solidFill>
              <a:srgbClr val="005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 tIns="91440" bIns="0" lIns="0" rIns="0">
            <a:spAutoFit/>
          </a:bodyPr>
          <a:lstStyle/>
          <a:p>
            <a:r>
              <a:rPr sz="2400" b="1">
                <a:solidFill>
                  <a:srgbClr val="005F73"/>
                </a:solidFill>
                <a:latin typeface="Microsoft JhengHei UI"/>
              </a:rPr>
              <a:t>06  </a:t>
            </a:r>
            <a:r>
              <a:rPr sz="2400" b="1">
                <a:solidFill>
                  <a:srgbClr val="1A202C"/>
                </a:solidFill>
                <a:latin typeface="Microsoft JhengHei"/>
              </a:rPr>
              <a:t>未來挑戰：膳食補充劑摻假與生物護照干擾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400" b="1">
                <a:solidFill>
                  <a:srgbClr val="E63946"/>
                </a:solidFill>
                <a:latin typeface="Microsoft JhengHei UI"/>
              </a:rPr>
              <a:t>9% ~ 15%</a:t>
            </a:r>
          </a:p>
          <a:p>
            <a:r>
              <a:rPr sz="1600" b="1">
                <a:solidFill>
                  <a:srgbClr val="1A202C"/>
                </a:solidFill>
                <a:latin typeface="Microsoft JhengHei"/>
              </a:rPr>
              <a:t>全球膳食補充劑與草本顆粒之非法摻假率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383280"/>
            <a:ext cx="4572000" cy="256032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520440"/>
            <a:ext cx="4297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E63946"/>
                </a:solidFill>
                <a:latin typeface="Microsoft JhengHei"/>
              </a:rPr>
              <a:t>💡 數據實體化對比 (Real-world Analogy)</a:t>
            </a:r>
          </a:p>
          <a:p>
            <a:r>
              <a:rPr sz="1400">
                <a:solidFill>
                  <a:srgbClr val="1A202C"/>
                </a:solidFill>
                <a:latin typeface="Microsoft JhengHei"/>
              </a:rPr>
              <a:t>每 </a:t>
            </a:r>
            <a:r>
              <a:rPr sz="1500" b="1">
                <a:solidFill>
                  <a:srgbClr val="E63946"/>
                </a:solidFill>
                <a:latin typeface="Microsoft JhengHei"/>
              </a:rPr>
              <a:t>10 瓶</a:t>
            </a:r>
            <a:r>
              <a:rPr sz="1400">
                <a:solidFill>
                  <a:srgbClr val="1A202C"/>
                </a:solidFill>
                <a:latin typeface="Microsoft JhengHei"/>
              </a:rPr>
              <a:t>標榜「純天然、無添加」的草本膳食補充劑中，就有 </a:t>
            </a:r>
            <a:r>
              <a:rPr sz="1500" b="1">
                <a:solidFill>
                  <a:srgbClr val="E63946"/>
                </a:solidFill>
                <a:latin typeface="Microsoft JhengHei"/>
              </a:rPr>
              <a:t>1 瓶以上</a:t>
            </a:r>
            <a:r>
              <a:rPr sz="1400">
                <a:solidFill>
                  <a:srgbClr val="1A202C"/>
                </a:solidFill>
                <a:latin typeface="Microsoft JhengHei"/>
              </a:rPr>
              <a:t>被檢出含有 WADA 禁用之化學成分（如 SARMs、合成類固醇或合成興奮劑），標籤上完全未標示！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64592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05F73"/>
                </a:solidFill>
                <a:latin typeface="Microsoft JhengHei"/>
              </a:rPr>
              <a:t>🩸 生物護照 (ABP) 的血液學干擾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4A5568"/>
                </a:solidFill>
                <a:latin typeface="Microsoft JhengHei"/>
              </a:rPr>
              <a:t>當歸、黃芪、丹參等補血益氣中藥可刺激骨髓紅血球造血系統。連續服用 14 天後，選手的網狀紅血球百分比 (RET%) 會顯著升高，易被 WADA 生物護照演算法判定為 atypical（異常），被懷疑使用 EPO，進而招致額外審查。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05F73"/>
                </a:solidFill>
                <a:latin typeface="Microsoft JhengHei"/>
              </a:rPr>
              <a:t>⚠️ 臨床專家的認知盲區</a:t>
            </a:r>
          </a:p>
          <a:p>
            <a:r>
              <a:rPr sz="1400">
                <a:solidFill>
                  <a:srgbClr val="4A5568"/>
                </a:solidFill>
                <a:latin typeface="Microsoft JhengHei"/>
              </a:rPr>
              <a:t>2025 學術調查發現，超過 </a:t>
            </a:r>
            <a:r>
              <a:rPr sz="1400" b="1">
                <a:solidFill>
                  <a:srgbClr val="E63946"/>
                </a:solidFill>
                <a:latin typeface="Microsoft JhengHei"/>
              </a:rPr>
              <a:t>40% 的臨床醫學與藥學專家</a:t>
            </a:r>
            <a:r>
              <a:rPr sz="1400">
                <a:solidFill>
                  <a:srgbClr val="4A5568"/>
                </a:solidFill>
                <a:latin typeface="Microsoft JhengHei"/>
              </a:rPr>
              <a:t>並不清楚「去甲烏藥鹼」是運動禁用物質，這意味著如果沒有接受過禁藥管制培訓的中醫師開藥，選手極易誤服而觸網。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0362895" cy="36576"/>
          </a:xfrm>
          <a:prstGeom prst="rect">
            <a:avLst/>
          </a:prstGeom>
          <a:solidFill>
            <a:srgbClr val="005F73"/>
          </a:solidFill>
          <a:ln>
            <a:solidFill>
              <a:srgbClr val="005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 tIns="91440" bIns="0" lIns="0" rIns="0">
            <a:spAutoFit/>
          </a:bodyPr>
          <a:lstStyle/>
          <a:p>
            <a:r>
              <a:rPr sz="2400" b="1">
                <a:solidFill>
                  <a:srgbClr val="005F73"/>
                </a:solidFill>
                <a:latin typeface="Microsoft JhengHei UI"/>
              </a:rPr>
              <a:t>07  </a:t>
            </a:r>
            <a:r>
              <a:rPr sz="2400" b="1">
                <a:solidFill>
                  <a:srgbClr val="1A202C"/>
                </a:solidFill>
                <a:latin typeface="Microsoft JhengHei"/>
              </a:rPr>
              <a:t>實務避雷 ─ 運動員防護「問、查、換、申」守門人系統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2407615" cy="411480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22247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5400" b="1">
                <a:solidFill>
                  <a:srgbClr val="E63946"/>
                </a:solidFill>
                <a:latin typeface="Microsoft JhengHei UI"/>
              </a:rPr>
              <a:t>問</a:t>
            </a:r>
          </a:p>
          <a:p>
            <a:pPr algn="ctr">
              <a:spcAft>
                <a:spcPts val="1400"/>
              </a:spcAft>
            </a:pPr>
            <a:r>
              <a:rPr sz="1600" b="1">
                <a:solidFill>
                  <a:srgbClr val="1A202C"/>
                </a:solidFill>
                <a:latin typeface="Microsoft JhengHei"/>
              </a:rPr>
              <a:t>主動告知身份</a:t>
            </a:r>
          </a:p>
          <a:p>
            <a:r>
              <a:rPr sz="1300">
                <a:solidFill>
                  <a:srgbClr val="4A5568"/>
                </a:solidFill>
                <a:latin typeface="Microsoft JhengHei"/>
              </a:rPr>
              <a:t>就醫時告知中醫師與藥師：「我是需接受藥檢的運動員，請務必避開運動禁用成分。」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828800"/>
            <a:ext cx="2407615" cy="411480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965960"/>
            <a:ext cx="22247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5400" b="1">
                <a:solidFill>
                  <a:srgbClr val="005F73"/>
                </a:solidFill>
                <a:latin typeface="Microsoft JhengHei UI"/>
              </a:rPr>
              <a:t>查</a:t>
            </a:r>
          </a:p>
          <a:p>
            <a:pPr algn="ctr">
              <a:spcAft>
                <a:spcPts val="1400"/>
              </a:spcAft>
            </a:pPr>
            <a:r>
              <a:rPr sz="1600" b="1">
                <a:solidFill>
                  <a:srgbClr val="1A202C"/>
                </a:solidFill>
                <a:latin typeface="Microsoft JhengHei"/>
              </a:rPr>
              <a:t>官方系統核對</a:t>
            </a:r>
          </a:p>
          <a:p>
            <a:r>
              <a:rPr sz="1300">
                <a:solidFill>
                  <a:srgbClr val="4A5568"/>
                </a:solidFill>
                <a:latin typeface="Microsoft JhengHei"/>
              </a:rPr>
              <a:t>利用 CTADA 中華運動禁藥防制基金會的「適用藥品查詢系統」，輸入中藥單方/複方比對是否安全。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2407615" cy="411480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59" y="1965960"/>
            <a:ext cx="22247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5400" b="1">
                <a:solidFill>
                  <a:srgbClr val="005F73"/>
                </a:solidFill>
                <a:latin typeface="Microsoft JhengHei UI"/>
              </a:rPr>
              <a:t>換</a:t>
            </a:r>
          </a:p>
          <a:p>
            <a:pPr algn="ctr">
              <a:spcAft>
                <a:spcPts val="1400"/>
              </a:spcAft>
            </a:pPr>
            <a:r>
              <a:rPr sz="1600" b="1">
                <a:solidFill>
                  <a:srgbClr val="1A202C"/>
                </a:solidFill>
                <a:latin typeface="Microsoft JhengHei"/>
              </a:rPr>
              <a:t>尋求安全替代</a:t>
            </a:r>
          </a:p>
          <a:p>
            <a:r>
              <a:rPr sz="1300">
                <a:solidFill>
                  <a:srgbClr val="4A5568"/>
                </a:solidFill>
                <a:latin typeface="Microsoft JhengHei"/>
              </a:rPr>
              <a:t>若處方中含禁用藥（如麻黃），要求換成同效之安全複方（如感冒改用銀翹散，避開小青龍湯）。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1828800"/>
            <a:ext cx="2407615" cy="4114800"/>
          </a:xfrm>
          <a:prstGeom prst="roundRect">
            <a:avLst/>
          </a:prstGeom>
          <a:solidFill>
            <a:srgbClr val="F8F9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19" y="1965960"/>
            <a:ext cx="222473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5400" b="1">
                <a:solidFill>
                  <a:srgbClr val="005F73"/>
                </a:solidFill>
                <a:latin typeface="Microsoft JhengHei UI"/>
              </a:rPr>
              <a:t>申</a:t>
            </a:r>
          </a:p>
          <a:p>
            <a:pPr algn="ctr">
              <a:spcAft>
                <a:spcPts val="1400"/>
              </a:spcAft>
            </a:pPr>
            <a:r>
              <a:rPr sz="1600" b="1">
                <a:solidFill>
                  <a:srgbClr val="1A202C"/>
                </a:solidFill>
                <a:latin typeface="Microsoft JhengHei"/>
              </a:rPr>
              <a:t>治療用途豁免</a:t>
            </a:r>
          </a:p>
          <a:p>
            <a:r>
              <a:rPr sz="1300">
                <a:solidFill>
                  <a:srgbClr val="4A5568"/>
                </a:solidFill>
                <a:latin typeface="Microsoft JhengHei"/>
              </a:rPr>
              <a:t>若因重病且臨床必須使用含有禁用成分的處方時，必須在服藥前向防制基金會依法申請 TUE 許可。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