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011680"/>
            <a:ext cx="73152" cy="2926080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310896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1A202C"/>
                </a:solidFill>
                <a:latin typeface="Microsoft JhengHei"/>
              </a:rPr>
              <a:t>運動禁藥與中草藥使用指南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4A5568"/>
                </a:solidFill>
                <a:latin typeface="Microsoft JhengHei"/>
              </a:rPr>
              <a:t>運動員的黃金防護與避雷指引
2026 WADA/CTADA 規範 ─ 案例融合與安全替代方案</a:t>
            </a:r>
          </a:p>
          <a:p>
            <a:r>
              <a:rPr sz="1300" b="1">
                <a:solidFill>
                  <a:srgbClr val="005F73"/>
                </a:solidFill>
                <a:latin typeface="Microsoft JhengHei"/>
              </a:rPr>
              <a:t>中華運動禁藥防制基金會規範對照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01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中草藥特性與運動禁藥之「嚴格責任」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846320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480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5F73"/>
                </a:solidFill>
                <a:latin typeface="Microsoft JhengHei"/>
              </a:rPr>
              <a:t>中草藥與科學中藥的特性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多成分複雜性：</a:t>
            </a:r>
            <a:r>
              <a:rPr sz="1400">
                <a:solidFill>
                  <a:srgbClr val="4A5568"/>
                </a:solidFill>
                <a:latin typeface="Microsoft JhengHei"/>
              </a:rPr>
              <a:t>一味中藥含數百種化合物，複方成分相互交織，具高度不確定性。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濃縮放大效應：</a:t>
            </a:r>
            <a:r>
              <a:rPr sz="1400">
                <a:solidFill>
                  <a:srgbClr val="4A5568"/>
                </a:solidFill>
                <a:latin typeface="Microsoft JhengHei"/>
              </a:rPr>
              <a:t>科學中藥在提取與濃縮過程中，會將微量活性成分放大數倍至數十倍，大幅增加尿檢陽性風險。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品質控制難點：</a:t>
            </a:r>
            <a:r>
              <a:rPr sz="1400">
                <a:solidFill>
                  <a:srgbClr val="4A5568"/>
                </a:solidFill>
                <a:latin typeface="Microsoft JhengHei"/>
              </a:rPr>
              <a:t>受藥材產地、採收季節、炮製方法影響，同一複方不同批次的禁用成分含量可能存在顯著波動。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4846320" cy="4297680"/>
          </a:xfrm>
          <a:prstGeom prst="roundRect">
            <a:avLst/>
          </a:prstGeom>
          <a:solidFill>
            <a:srgbClr val="FED7D7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480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63946"/>
                </a:solidFill>
                <a:latin typeface="Microsoft JhengHei"/>
              </a:rPr>
              <a:t>嚴格責任原則 (Strict Liability)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客觀事實判定：</a:t>
            </a:r>
            <a:r>
              <a:rPr sz="1400">
                <a:solidFill>
                  <a:srgbClr val="1A202C"/>
                </a:solidFill>
                <a:latin typeface="Microsoft JhengHei"/>
              </a:rPr>
              <a:t>只要樣本（尿液/血液）中檢出禁用物質，即構成運動禁藥違規（ADRV），不論是否故意。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疏忽不免責：</a:t>
            </a:r>
            <a:r>
              <a:rPr sz="1400">
                <a:solidFill>
                  <a:srgbClr val="1A202C"/>
                </a:solidFill>
                <a:latin typeface="Microsoft JhengHei"/>
              </a:rPr>
              <a:t>在聽證會上，以「不知道中藥裡含有禁藥」或「中醫師說很安全」均不能作為完全免責的理由。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A202C"/>
                </a:solidFill>
                <a:latin typeface="Microsoft JhengHei"/>
              </a:rPr>
              <a:t>• 終極個人責任：</a:t>
            </a:r>
            <a:r>
              <a:rPr sz="1400">
                <a:solidFill>
                  <a:srgbClr val="1A202C"/>
                </a:solidFill>
                <a:latin typeface="Microsoft JhengHei"/>
              </a:rPr>
              <a:t>運動員必須對所有進入自己體內的物質負起終極責任，這也是反運動禁藥管制的根本法理。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02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運動員尋求中草藥調理之三大臨床主因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30575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05F73"/>
                </a:solidFill>
                <a:latin typeface="Microsoft JhengHei UI"/>
              </a:rPr>
              <a:t>01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1A202C"/>
                </a:solidFill>
                <a:latin typeface="Microsoft JhengHei"/>
              </a:rPr>
              <a:t>運動後疲勞快速恢復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005F73"/>
                </a:solidFill>
                <a:latin typeface="Microsoft JhengHei"/>
              </a:rPr>
              <a:t>氣血雙補、加速乳酸代謝</a:t>
            </a:r>
          </a:p>
          <a:p>
            <a:r>
              <a:rPr sz="1400">
                <a:solidFill>
                  <a:srgbClr val="4A5568"/>
                </a:solidFill>
                <a:latin typeface="Microsoft JhengHei"/>
              </a:rPr>
              <a:t>高強度訓練會導致運動性「氣血兩虛」或「氣滯血瘀」。選手多用當歸、黃芪、人參、丹參等中藥補益藥，以促進微循環並縮短疲勞恢復期。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45920"/>
            <a:ext cx="3230575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05F73"/>
                </a:solidFill>
                <a:latin typeface="Microsoft JhengHei UI"/>
              </a:rPr>
              <a:t>02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1A202C"/>
                </a:solidFill>
                <a:latin typeface="Microsoft JhengHei"/>
              </a:rPr>
              <a:t>肌肉與關節損傷調理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005F73"/>
                </a:solidFill>
                <a:latin typeface="Microsoft JhengHei"/>
              </a:rPr>
              <a:t>活血散瘀、消腫止痛</a:t>
            </a:r>
          </a:p>
          <a:p>
            <a:r>
              <a:rPr sz="1400">
                <a:solidFill>
                  <a:srgbClr val="4A5568"/>
                </a:solidFill>
                <a:latin typeface="Microsoft JhengHei"/>
              </a:rPr>
              <a:t>面對跌打損傷、韌帶拉傷或慢性關節痠痛，選手常用口服複方（如獨活寄生湯、疏經活血湯）或外貼麝香膏以達到祛風通絡、消炎退腫效果。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30575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562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005F73"/>
                </a:solidFill>
                <a:latin typeface="Microsoft JhengHei UI"/>
              </a:rPr>
              <a:t>03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1A202C"/>
                </a:solidFill>
                <a:latin typeface="Microsoft JhengHei"/>
              </a:rPr>
              <a:t>免疫力調節與日常體質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005F73"/>
                </a:solidFill>
                <a:latin typeface="Microsoft JhengHei"/>
              </a:rPr>
              <a:t>益氣固表、適應性調理</a:t>
            </a:r>
          </a:p>
          <a:p>
            <a:r>
              <a:rPr sz="1400">
                <a:solidFill>
                  <a:srgbClr val="4A5568"/>
                </a:solidFill>
                <a:latin typeface="Microsoft JhengHei"/>
              </a:rPr>
              <a:t>在高強度備賽期或出國參賽面臨氣候突變、時差時，運動員易因壓力導致免疫力下降。多使用玉屏風散等調理脾胃，預防感冒及維持身體機能穩定。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03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確定禁用中藥專題：去甲烏藥鹼 (Higenamine) 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E63946"/>
                </a:solidFill>
                <a:latin typeface="Microsoft JhengHei UI"/>
              </a:rPr>
              <a:t>10 ng/mL</a:t>
            </a:r>
          </a:p>
          <a:p>
            <a:r>
              <a:rPr sz="1400" b="1">
                <a:solidFill>
                  <a:srgbClr val="1A202C"/>
                </a:solidFill>
                <a:latin typeface="Microsoft JhengHei"/>
              </a:rPr>
              <a:t>WADA 去甲烏藥鹼尿液判定陽性之閾值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651760"/>
            <a:ext cx="4572000" cy="2011680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5F73"/>
                </a:solidFill>
                <a:latin typeface="Microsoft JhengHei"/>
              </a:rPr>
              <a:t>💡 數據實體化對比 (Real-world Analogy)
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C"/>
                </a:solidFill>
                <a:latin typeface="Microsoft JhengHei"/>
              </a:rPr>
              <a:t>相當於在一個 </a:t>
            </a:r>
            <a:r>
              <a:rPr sz="1300" b="1">
                <a:solidFill>
                  <a:srgbClr val="005F73"/>
                </a:solidFill>
                <a:latin typeface="Microsoft JhengHei"/>
              </a:rPr>
              <a:t>250 萬公升標準奧運泳池</a:t>
            </a:r>
            <a:r>
              <a:rPr sz="1300">
                <a:solidFill>
                  <a:srgbClr val="1A202C"/>
                </a:solidFill>
                <a:latin typeface="Microsoft JhengHei"/>
              </a:rPr>
              <a:t>中，只滴入 </a:t>
            </a:r>
            <a:r>
              <a:rPr sz="1300" b="1">
                <a:solidFill>
                  <a:srgbClr val="E63946"/>
                </a:solidFill>
                <a:latin typeface="Microsoft JhengHei"/>
              </a:rPr>
              <a:t>0.025 毫升（半滴水）</a:t>
            </a:r>
            <a:r>
              <a:rPr sz="1300">
                <a:solidFill>
                  <a:srgbClr val="1A202C"/>
                </a:solidFill>
                <a:latin typeface="Microsoft JhengHei"/>
              </a:rPr>
              <a:t>的禁用藥物。運動員喝一杯「蓮子心茶」即會嚴重超標。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4572000" cy="1463040"/>
          </a:xfrm>
          <a:prstGeom prst="roundRect">
            <a:avLst/>
          </a:prstGeom>
          <a:solidFill>
            <a:srgbClr val="FED7D7"/>
          </a:solidFill>
          <a:ln w="1524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3776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63946"/>
                </a:solidFill>
                <a:latin typeface="Microsoft JhengHei"/>
              </a:rPr>
              <a:t>🚨 去甲烏藥鹼 ─ 真實禁賽案例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1A202C"/>
                </a:solidFill>
                <a:latin typeface="Microsoft JhengHei"/>
              </a:rPr>
              <a:t>• 香港鉛球選手杜婉筠 (2022) 因賽前服用中藥鋪調配的草藥調理，檢出 Higenamine，被重罰禁賽 2 年。
• 肯亞選手 Philip (2019) 因生病服用了母親熬煮的草藥茶，同樣被判禁賽 2 年。民俗療法無免責空間。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37160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E63946"/>
                </a:solidFill>
                <a:latin typeface="Microsoft JhengHei"/>
              </a:rPr>
              <a:t>❌ 禁用成分之天然中藥來源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A202C"/>
                </a:solidFill>
                <a:latin typeface="Microsoft JhengHei"/>
              </a:rPr>
              <a:t>• 蓮子心：</a:t>
            </a:r>
            <a:r>
              <a:rPr sz="1350">
                <a:solidFill>
                  <a:srgbClr val="4A5568"/>
                </a:solidFill>
                <a:latin typeface="Microsoft JhengHei"/>
              </a:rPr>
              <a:t>含量極高。常用於降火助眠，運動員賽前絕對禁止飲用。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A202C"/>
                </a:solidFill>
                <a:latin typeface="Microsoft JhengHei"/>
              </a:rPr>
              <a:t>• 附子、細辛、吳茱萸：</a:t>
            </a:r>
            <a:r>
              <a:rPr sz="1350">
                <a:solidFill>
                  <a:srgbClr val="4A5568"/>
                </a:solidFill>
                <a:latin typeface="Microsoft JhengHei"/>
              </a:rPr>
              <a:t>常見中藥，廣泛存在於溫陽祛寒方劑中。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1A202C"/>
                </a:solidFill>
                <a:latin typeface="Microsoft JhengHei"/>
              </a:rPr>
              <a:t>• 日常水果：</a:t>
            </a:r>
            <a:r>
              <a:rPr sz="1350">
                <a:solidFill>
                  <a:srgbClr val="4A5568"/>
                </a:solidFill>
                <a:latin typeface="Microsoft JhengHei"/>
              </a:rPr>
              <a:t>釋迦亦含有天然去甲烏藥鹼，賽前應避免大量食用。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sz="1700" b="1">
                <a:solidFill>
                  <a:srgbClr val="005F73"/>
                </a:solidFill>
                <a:latin typeface="Microsoft JhengHei"/>
              </a:rPr>
              <a:t>⚠️ 隱藏前驅物代謝風險：烏藥鹼 (Coclaurine)</a:t>
            </a:r>
          </a:p>
          <a:p>
            <a:r>
              <a:rPr sz="1350">
                <a:solidFill>
                  <a:srgbClr val="4A5568"/>
                </a:solidFill>
                <a:latin typeface="Microsoft JhengHei"/>
              </a:rPr>
              <a:t>Coclaurine 本身未禁用，但在人體內會脫甲基代謝轉化為去甲烏藥鹼。富含於</a:t>
            </a:r>
            <a:r>
              <a:rPr sz="1350" b="1">
                <a:solidFill>
                  <a:srgbClr val="E63946"/>
                </a:solidFill>
                <a:latin typeface="Microsoft JhengHei"/>
              </a:rPr>
              <a:t>肉桂、大棗、黃柏</a:t>
            </a:r>
            <a:r>
              <a:rPr sz="1350">
                <a:solidFill>
                  <a:srgbClr val="4A5568"/>
                </a:solidFill>
                <a:latin typeface="Microsoft JhengHei"/>
              </a:rPr>
              <a:t>中。這使得葛根湯、十全大補湯等常見含有大棗與肉桂的複方，避雷難度顯著增加。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04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賽內興奮劑：麻黃素累積排除動力學與陽性風險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E63946"/>
                </a:solidFill>
                <a:latin typeface="Microsoft JhengHei UI"/>
              </a:rPr>
              <a:t>10 μg/mL
</a:t>
            </a:r>
            <a:r>
              <a:rPr sz="1300" b="1">
                <a:solidFill>
                  <a:srgbClr val="1A202C"/>
                </a:solidFill>
                <a:latin typeface="Microsoft JhengHei"/>
              </a:rPr>
              <a:t>WADA 麻黃鹼尿檢判定陽性閾值
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A5568"/>
                </a:solidFill>
                <a:latin typeface="Microsoft JhengHei"/>
              </a:rPr>
              <a:t>⚠️ 藥物在體內具有蓄積半衰期。單次服用（2.5g 科學中藥）後濃度低於門檻，但若連續服用 3 天（一日三次），尿中麻黃鹼濃度會飆升，高機率超標判定違規。此外，當尿液呈</a:t>
            </a:r>
            <a:r>
              <a:rPr sz="1200" b="1">
                <a:solidFill>
                  <a:srgbClr val="E63946"/>
                </a:solidFill>
                <a:latin typeface="Microsoft JhengHei"/>
              </a:rPr>
              <a:t>鹼性 (pH &gt; 7.0)</a:t>
            </a:r>
            <a:r>
              <a:rPr sz="1200">
                <a:solidFill>
                  <a:srgbClr val="4A5568"/>
                </a:solidFill>
                <a:latin typeface="Microsoft JhengHei"/>
              </a:rPr>
              <a:t>時，排泄速度減慢，會大幅延長超標風險期。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4114800" cy="1920240"/>
          </a:xfrm>
          <a:prstGeom prst="roundRect">
            <a:avLst/>
          </a:prstGeom>
          <a:solidFill>
            <a:srgbClr val="FED7D7"/>
          </a:solidFill>
          <a:ln w="1524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480560"/>
            <a:ext cx="3840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63946"/>
                </a:solidFill>
                <a:latin typeface="Microsoft JhengHei"/>
              </a:rPr>
              <a:t>🚨 麻黃素 ─ 真實禁賽案例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1A202C"/>
                </a:solidFill>
                <a:latin typeface="Microsoft JhengHei"/>
              </a:rPr>
              <a:t>• 台灣網球選手曹家宜 (2025) 於賽前因感冒不適，服用了日本購買的市售非處方感冒藥，因其中含有甲基麻黃鹼成分而在尿檢中呈現陽性，面臨暫時停賽。選手出國參賽切勿自行購買服用任何藥物。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37360"/>
            <a:ext cx="36576" cy="2926080"/>
          </a:xfrm>
          <a:prstGeom prst="rect">
            <a:avLst/>
          </a:prstGeom>
          <a:solidFill>
            <a:srgbClr val="E63946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13258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63946"/>
                </a:solidFill>
                <a:latin typeface="Microsoft JhengHei"/>
              </a:rPr>
              <a:t>WADA 陽性閾值 10.0 μg/mL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83079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A202C"/>
                </a:solidFill>
                <a:latin typeface="Microsoft JhengHei"/>
              </a:defRPr>
            </a:pPr>
            <a:r>
              <a:t>葛根湯/小青龍湯 ─ 單次服用 (平均 3.9 μg/mL)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103120"/>
            <a:ext cx="5486400" cy="320040"/>
          </a:xfrm>
          <a:prstGeom prst="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0" y="2103120"/>
            <a:ext cx="534924" cy="320040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29883" y="20574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718096"/>
                </a:solidFill>
                <a:latin typeface="Microsoft JhengHei UI"/>
              </a:defRPr>
            </a:pPr>
            <a:r>
              <a:t>3.9 μg/mL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697479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A202C"/>
                </a:solidFill>
                <a:latin typeface="Microsoft JhengHei"/>
              </a:defRPr>
            </a:pPr>
            <a:r>
              <a:t>小青龍湯 ─ 連續服用 3 天 (13.73 μg/mL)  ⚠️ 突破臨界線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3017520"/>
            <a:ext cx="5486400" cy="320040"/>
          </a:xfrm>
          <a:prstGeom prst="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3017520"/>
            <a:ext cx="1883206" cy="320040"/>
          </a:xfrm>
          <a:prstGeom prst="rect">
            <a:avLst/>
          </a:prstGeom>
          <a:solidFill>
            <a:srgbClr val="E63946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78166" y="2971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E63946"/>
                </a:solidFill>
                <a:latin typeface="Microsoft JhengHei UI"/>
              </a:defRPr>
            </a:pPr>
            <a:r>
              <a:t>13.73 μg/mL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611879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A202C"/>
                </a:solidFill>
                <a:latin typeface="Microsoft JhengHei"/>
              </a:defRPr>
            </a:pPr>
            <a:r>
              <a:t>葛根湯 ─ 連續服用 3 天 (39.03 μg/mL)  🚨 超標近 4 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3931920"/>
            <a:ext cx="5486400" cy="320040"/>
          </a:xfrm>
          <a:prstGeom prst="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3931920"/>
            <a:ext cx="5353354" cy="320040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48314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B91C1C"/>
                </a:solidFill>
                <a:latin typeface="Microsoft JhengHei UI"/>
              </a:defRPr>
            </a:pPr>
            <a:r>
              <a:t>39.03 μg/mL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846320"/>
            <a:ext cx="5943600" cy="1463040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3776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5F73"/>
                </a:solidFill>
                <a:latin typeface="Microsoft JhengHei"/>
              </a:rPr>
              <a:t>🟢 運動員安全中藥替代方案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1A202C"/>
                </a:solidFill>
                <a:latin typeface="Microsoft JhengHei"/>
              </a:rPr>
              <a:t>• 葛根湯 ➔ 桂枝湯 / 銀花散 (適用感冒初期項背酸痛，不含麻黃)
• 小青龍湯 ➔ 止嗽散 / 二陳湯 (適用咳嗽化痰，安全性高)
• 麻杏甘石湯 ➔ 桑菊飲 / 清肺湯 (適用熱邪喘咳，無禁用興奮劑)
* 停藥建議：若服用了含麻黃之中藥，賽前至少 7~10 天（保守 2 週）須停藥。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05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其他禁用中草藥與 2026 運動禁藥監控計畫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846320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63946"/>
                </a:solidFill>
                <a:latin typeface="Microsoft JhengHei"/>
              </a:rPr>
              <a:t>🚫 其他確定為禁用物質之藥材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鹿麝香 (Moschus)：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類別 S1 同化性物質。口服或外用貼布均可能被皮膚吸收，導致雄性素藥檢超標。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地膚子、防己：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類別 S5 利尿劑。具強效利尿排除水分功能，會被判定為企圖稀釋或遮蔽尿液中的其他禁藥成分。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火麻仁 (Cannabis)：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類別 S8 大麻素。中藥常用於潤腸通便。收割加工易遭大麻葉污染，造成 THC 陽性。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馬錢子：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類別 S6 興奮劑。含有番木鼈鹼（劇毒），能興奮脊髓反射，禁用於賽內。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4846320" cy="4297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8288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5F73"/>
                </a:solidFill>
                <a:latin typeface="Microsoft JhengHei"/>
              </a:rPr>
              <a:t>📈 2026 WADA 監控計畫重點物質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咖啡因 (Caffeine)：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賽內監控。茶葉、咖啡與大量中藥提神包中常見。目前不禁用，但持續監測數據。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尼古丁 (Nicotine)：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持續監管運動員使用菸草與草本吸入劑的頻率。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辛弗林 (Synephrine)：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枳實、枳殼等理氣藥之核心活性成分，目前在賽內進行密切監控。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202C"/>
                </a:solidFill>
                <a:latin typeface="Microsoft JhengHei"/>
              </a:rPr>
              <a:t>• Semaglutide 減重監控：</a:t>
            </a:r>
            <a:r>
              <a:rPr sz="1300">
                <a:solidFill>
                  <a:srgbClr val="4A5568"/>
                </a:solidFill>
                <a:latin typeface="Microsoft JhengHei"/>
              </a:rPr>
              <a:t>全時段監控。標榜速效瘦身的草本減肥丸，极易非法摻雜 Semaglutide 等 GLP-1 減重成分。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06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未來挑戰：膳食補充劑摻假與生物護照干擾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E63946"/>
                </a:solidFill>
                <a:latin typeface="Microsoft JhengHei UI"/>
              </a:rPr>
              <a:t>9% ~ 15%</a:t>
            </a:r>
          </a:p>
          <a:p>
            <a:r>
              <a:rPr sz="1400" b="1">
                <a:solidFill>
                  <a:srgbClr val="1A202C"/>
                </a:solidFill>
                <a:latin typeface="Microsoft JhengHei"/>
              </a:rPr>
              <a:t>全球膳食補充劑與草本製品之非法摻假率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651760"/>
            <a:ext cx="4572000" cy="201168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63946"/>
                </a:solidFill>
                <a:latin typeface="Microsoft JhengHei"/>
              </a:rPr>
              <a:t>💡 數據實體化對比 (Real-world Analogy)
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C"/>
                </a:solidFill>
                <a:latin typeface="Microsoft JhengHei"/>
              </a:rPr>
              <a:t>每 </a:t>
            </a:r>
            <a:r>
              <a:rPr sz="1400" b="1">
                <a:solidFill>
                  <a:srgbClr val="E63946"/>
                </a:solidFill>
                <a:latin typeface="Microsoft JhengHei"/>
              </a:rPr>
              <a:t>10 瓶</a:t>
            </a:r>
            <a:r>
              <a:rPr sz="1300">
                <a:solidFill>
                  <a:srgbClr val="1A202C"/>
                </a:solidFill>
                <a:latin typeface="Microsoft JhengHei"/>
              </a:rPr>
              <a:t>標榜純天然無添加的草本膳食補充劑中，就有 </a:t>
            </a:r>
            <a:r>
              <a:rPr sz="1400" b="1">
                <a:solidFill>
                  <a:srgbClr val="E63946"/>
                </a:solidFill>
                <a:latin typeface="Microsoft JhengHei"/>
              </a:rPr>
              <a:t>1 瓶以上</a:t>
            </a:r>
            <a:r>
              <a:rPr sz="1300">
                <a:solidFill>
                  <a:srgbClr val="1A202C"/>
                </a:solidFill>
                <a:latin typeface="Microsoft JhengHei"/>
              </a:rPr>
              <a:t>摻雜有未標示的禁藥化學物質（如 SARM、合成類固醇與興奮劑）。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4572000" cy="1463040"/>
          </a:xfrm>
          <a:prstGeom prst="roundRect">
            <a:avLst/>
          </a:prstGeom>
          <a:solidFill>
            <a:srgbClr val="FED7D7"/>
          </a:solidFill>
          <a:ln w="1524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3776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63946"/>
                </a:solidFill>
                <a:latin typeface="Microsoft JhengHei"/>
              </a:rPr>
              <a:t>🚨 補充劑污染 ─ 真實禁賽案例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1A202C"/>
                </a:solidFill>
                <a:latin typeface="Microsoft JhengHei"/>
              </a:rPr>
              <a:t>• 美國舉重選手 Matthew McCullough (2019) 服用一款標榜「全天然」提神補充劑，被驗出去甲烏藥鹼與瘦肉精 (Clenbuterol)，證實產品遭交叉污染，被判禁賽 20 個月。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37160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05F73"/>
                </a:solidFill>
                <a:latin typeface="Microsoft JhengHei"/>
              </a:rPr>
              <a:t>🩸 生物護照 (ABP) 的血液學干擾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4A5568"/>
                </a:solidFill>
                <a:latin typeface="Microsoft JhengHei"/>
              </a:rPr>
              <a:t>當歸、黃芪、丹參等補血益氣中藥可刺激骨髓紅血球造血系統。連續服用 14 天後，選手的網狀紅血球百分比 (RET%) 會呈現顯著的生理上升。此生理學波動極易被 ABP 演算法判定為 atypical（異常），被懷疑使用 EPO，進而招致額外審查。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800" b="1">
                <a:solidFill>
                  <a:srgbClr val="005F73"/>
                </a:solidFill>
                <a:latin typeface="Microsoft JhengHei"/>
              </a:rPr>
              <a:t>⚠️ 臨床專家的認知盲區</a:t>
            </a:r>
          </a:p>
          <a:p>
            <a:r>
              <a:rPr sz="1350">
                <a:solidFill>
                  <a:srgbClr val="4A5568"/>
                </a:solidFill>
                <a:latin typeface="Microsoft JhengHei"/>
              </a:rPr>
              <a:t>2025 學術調查發現，超過 </a:t>
            </a:r>
            <a:r>
              <a:rPr sz="1350" b="1">
                <a:solidFill>
                  <a:srgbClr val="E63946"/>
                </a:solidFill>
                <a:latin typeface="Microsoft JhengHei"/>
              </a:rPr>
              <a:t>40% 的臨床醫學與藥學專家</a:t>
            </a:r>
            <a:r>
              <a:rPr sz="1350">
                <a:solidFill>
                  <a:srgbClr val="4A5568"/>
                </a:solidFill>
                <a:latin typeface="Microsoft JhengHei"/>
              </a:rPr>
              <a:t>並不清楚去甲烏藥鹼是運動禁用物質，非專科就醫極易誤服，防制教育宣導極其重要。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365760"/>
            <a:ext cx="10362895" cy="36576"/>
          </a:xfrm>
          <a:prstGeom prst="rect">
            <a:avLst/>
          </a:prstGeom>
          <a:solidFill>
            <a:srgbClr val="005F73"/>
          </a:solidFill>
          <a:ln>
            <a:solidFill>
              <a:srgbClr val="005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 tIns="91440" bIns="0" lIns="0" rIns="0">
            <a:spAutoFit/>
          </a:bodyPr>
          <a:lstStyle/>
          <a:p>
            <a:r>
              <a:rPr sz="2400" b="1">
                <a:solidFill>
                  <a:srgbClr val="005F73"/>
                </a:solidFill>
                <a:latin typeface="Microsoft JhengHei UI"/>
              </a:rPr>
              <a:t>07  </a:t>
            </a:r>
            <a:r>
              <a:rPr sz="2400" b="1">
                <a:solidFill>
                  <a:srgbClr val="1A202C"/>
                </a:solidFill>
                <a:latin typeface="Microsoft JhengHei"/>
              </a:rPr>
              <a:t>實務避雷 ─ 運動員防護「問、查、換、申」守門人系統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40761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22247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E63946"/>
                </a:solidFill>
                <a:latin typeface="Microsoft JhengHei UI"/>
              </a:rPr>
              <a:t>問</a:t>
            </a:r>
          </a:p>
          <a:p>
            <a:pPr algn="ctr">
              <a:spcAft>
                <a:spcPts val="1400"/>
              </a:spcAft>
            </a:pPr>
            <a:r>
              <a:rPr sz="1600" b="1">
                <a:solidFill>
                  <a:srgbClr val="1A202C"/>
                </a:solidFill>
                <a:latin typeface="Microsoft JhengHei"/>
              </a:rPr>
              <a:t>主動告知身份</a:t>
            </a:r>
          </a:p>
          <a:p>
            <a:r>
              <a:rPr sz="1300">
                <a:solidFill>
                  <a:srgbClr val="4A5568"/>
                </a:solidFill>
                <a:latin typeface="Microsoft JhengHei"/>
              </a:rPr>
              <a:t>就醫時告知中醫師與藥師：「我是需接受藥檢的運動員，請務必避開運動禁用成分。」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40761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965960"/>
            <a:ext cx="22247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005F73"/>
                </a:solidFill>
                <a:latin typeface="Microsoft JhengHei UI"/>
              </a:rPr>
              <a:t>查</a:t>
            </a:r>
          </a:p>
          <a:p>
            <a:pPr algn="ctr">
              <a:spcAft>
                <a:spcPts val="1400"/>
              </a:spcAft>
            </a:pPr>
            <a:r>
              <a:rPr sz="1600" b="1">
                <a:solidFill>
                  <a:srgbClr val="1A202C"/>
                </a:solidFill>
                <a:latin typeface="Microsoft JhengHei"/>
              </a:rPr>
              <a:t>官方系統核對</a:t>
            </a:r>
          </a:p>
          <a:p>
            <a:r>
              <a:rPr sz="1300">
                <a:solidFill>
                  <a:srgbClr val="4A5568"/>
                </a:solidFill>
                <a:latin typeface="Microsoft JhengHei"/>
              </a:rPr>
              <a:t>利用 CTADA 中華運動禁藥防制基金會的「適用藥品查詢系統」，輸入中藥單方/複方比對是否安全。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0761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1965960"/>
            <a:ext cx="22247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005F73"/>
                </a:solidFill>
                <a:latin typeface="Microsoft JhengHei UI"/>
              </a:rPr>
              <a:t>換</a:t>
            </a:r>
          </a:p>
          <a:p>
            <a:pPr algn="ctr">
              <a:spcAft>
                <a:spcPts val="1400"/>
              </a:spcAft>
            </a:pPr>
            <a:r>
              <a:rPr sz="1600" b="1">
                <a:solidFill>
                  <a:srgbClr val="1A202C"/>
                </a:solidFill>
                <a:latin typeface="Microsoft JhengHei"/>
              </a:rPr>
              <a:t>尋求安全替代</a:t>
            </a:r>
          </a:p>
          <a:p>
            <a:r>
              <a:rPr sz="1300">
                <a:solidFill>
                  <a:srgbClr val="4A5568"/>
                </a:solidFill>
                <a:latin typeface="Microsoft JhengHei"/>
              </a:rPr>
              <a:t>若處方中含禁用藥（如麻黃），要求換成同效之安全複方（如感冒改用銀翹散，避開小青龍湯）。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828800"/>
            <a:ext cx="2407615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19" y="1965960"/>
            <a:ext cx="222473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>
                <a:solidFill>
                  <a:srgbClr val="005F73"/>
                </a:solidFill>
                <a:latin typeface="Microsoft JhengHei UI"/>
              </a:rPr>
              <a:t>申</a:t>
            </a:r>
          </a:p>
          <a:p>
            <a:pPr algn="ctr">
              <a:spcAft>
                <a:spcPts val="1400"/>
              </a:spcAft>
            </a:pPr>
            <a:r>
              <a:rPr sz="1600" b="1">
                <a:solidFill>
                  <a:srgbClr val="1A202C"/>
                </a:solidFill>
                <a:latin typeface="Microsoft JhengHei"/>
              </a:rPr>
              <a:t>治療用途豁免</a:t>
            </a:r>
          </a:p>
          <a:p>
            <a:r>
              <a:rPr sz="1300">
                <a:solidFill>
                  <a:srgbClr val="4A5568"/>
                </a:solidFill>
                <a:latin typeface="Microsoft JhengHei"/>
              </a:rPr>
              <a:t>若因重病且臨床必須使用含有禁用成分的處方時，必須在服藥前向防制基金會依法申請 TUE 許可。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